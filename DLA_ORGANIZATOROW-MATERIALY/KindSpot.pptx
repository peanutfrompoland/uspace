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udio/m4a" Extension="m4a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ro Rust" charset="1" panose="00000500000000000000"/>
      <p:regular r:id="rId14"/>
    </p:embeddedFont>
    <p:embeddedFont>
      <p:font typeface="Aileron" charset="1" panose="00000500000000000000"/>
      <p:regular r:id="rId15"/>
    </p:embeddedFont>
    <p:embeddedFont>
      <p:font typeface="Aileron Bold" charset="1" panose="00000800000000000000"/>
      <p:regular r:id="rId16"/>
    </p:embeddedFont>
    <p:embeddedFont>
      <p:font typeface="Aileron Heavy" charset="1" panose="00000A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57.jpeg" Type="http://schemas.openxmlformats.org/officeDocument/2006/relationships/image"/><Relationship Id="rId16" Target="../media/aAHQEK5wW0I.m4a" Type="http://schemas.microsoft.com/office/2007/relationships/media"/><Relationship Id="rId17" Target="../media/aAHQEK5wW0I.m4a" Type="http://schemas.openxmlformats.org/officeDocument/2006/relationships/audio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14" Target="../media/image26.png" Type="http://schemas.openxmlformats.org/officeDocument/2006/relationships/image"/><Relationship Id="rId15" Target="../media/image2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14.png" Type="http://schemas.openxmlformats.org/officeDocument/2006/relationships/image"/><Relationship Id="rId20" Target="../media/image32.png" Type="http://schemas.openxmlformats.org/officeDocument/2006/relationships/image"/><Relationship Id="rId21" Target="../media/image33.svg" Type="http://schemas.openxmlformats.org/officeDocument/2006/relationships/image"/><Relationship Id="rId22" Target="../media/image34.png" Type="http://schemas.openxmlformats.org/officeDocument/2006/relationships/image"/><Relationship Id="rId23" Target="../media/image35.sv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VAHXB2xnP8A.mp4" Type="http://schemas.openxmlformats.org/officeDocument/2006/relationships/video"/><Relationship Id="rId4" Target="../media/VAHXB2xnP8A.mp4" Type="http://schemas.microsoft.com/office/2007/relationships/media"/><Relationship Id="rId5" Target="../media/VAHXB2xnP8A.mp4" Type="http://schemas.openxmlformats.org/officeDocument/2006/relationships/video"/><Relationship Id="rId6" Target="../media/VAHXB2xnP8A.mp4" Type="http://schemas.microsoft.com/office/2007/relationships/media"/><Relationship Id="rId7" Target="../media/VAHXB2xnP8A.mp4" Type="http://schemas.openxmlformats.org/officeDocument/2006/relationships/video"/><Relationship Id="rId8" Target="../media/VAHXB2xnP8A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36.jpeg" Type="http://schemas.openxmlformats.org/officeDocument/2006/relationships/image"/><Relationship Id="rId5" Target="../media/VAHXB2xnP8A.mp4" Type="http://schemas.openxmlformats.org/officeDocument/2006/relationships/video"/><Relationship Id="rId6" Target="../media/VAHXB2xnP8A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20.png" Type="http://schemas.openxmlformats.org/officeDocument/2006/relationships/image"/><Relationship Id="rId20" Target="../media/image55.png" Type="http://schemas.openxmlformats.org/officeDocument/2006/relationships/image"/><Relationship Id="rId21" Target="../media/image56.svg" Type="http://schemas.openxmlformats.org/officeDocument/2006/relationships/image"/><Relationship Id="rId3" Target="../media/image21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36.jpeg" Type="http://schemas.openxmlformats.org/officeDocument/2006/relationships/image"/><Relationship Id="rId5" Target="../media/VAHXB2xnP8A.mp4" Type="http://schemas.openxmlformats.org/officeDocument/2006/relationships/video"/><Relationship Id="rId6" Target="../media/VAHXB2xnP8A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19075" cy="9429750"/>
          </a:xfrm>
          <a:custGeom>
            <a:avLst/>
            <a:gdLst/>
            <a:ahLst/>
            <a:cxnLst/>
            <a:rect r="r" b="b" t="t" l="l"/>
            <a:pathLst>
              <a:path h="9429750" w="219075">
                <a:moveTo>
                  <a:pt x="0" y="0"/>
                </a:moveTo>
                <a:lnTo>
                  <a:pt x="219075" y="0"/>
                </a:lnTo>
                <a:lnTo>
                  <a:pt x="21907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28139" y="0"/>
            <a:ext cx="7459861" cy="10476816"/>
          </a:xfrm>
          <a:custGeom>
            <a:avLst/>
            <a:gdLst/>
            <a:ahLst/>
            <a:cxnLst/>
            <a:rect r="r" b="b" t="t" l="l"/>
            <a:pathLst>
              <a:path h="10476816" w="7459861">
                <a:moveTo>
                  <a:pt x="0" y="0"/>
                </a:moveTo>
                <a:lnTo>
                  <a:pt x="7459861" y="0"/>
                </a:lnTo>
                <a:lnTo>
                  <a:pt x="7459861" y="10476816"/>
                </a:lnTo>
                <a:lnTo>
                  <a:pt x="0" y="10476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889" t="0" r="-6630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68925" y="0"/>
            <a:ext cx="219075" cy="9429750"/>
          </a:xfrm>
          <a:custGeom>
            <a:avLst/>
            <a:gdLst/>
            <a:ahLst/>
            <a:cxnLst/>
            <a:rect r="r" b="b" t="t" l="l"/>
            <a:pathLst>
              <a:path h="9429750" w="219075">
                <a:moveTo>
                  <a:pt x="0" y="0"/>
                </a:moveTo>
                <a:lnTo>
                  <a:pt x="219075" y="0"/>
                </a:lnTo>
                <a:lnTo>
                  <a:pt x="219075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28139" y="1539724"/>
            <a:ext cx="1485148" cy="2179294"/>
          </a:xfrm>
          <a:custGeom>
            <a:avLst/>
            <a:gdLst/>
            <a:ahLst/>
            <a:cxnLst/>
            <a:rect r="r" b="b" t="t" l="l"/>
            <a:pathLst>
              <a:path h="2179294" w="1485148">
                <a:moveTo>
                  <a:pt x="0" y="0"/>
                </a:moveTo>
                <a:lnTo>
                  <a:pt x="1485149" y="0"/>
                </a:lnTo>
                <a:lnTo>
                  <a:pt x="1485149" y="2179294"/>
                </a:lnTo>
                <a:lnTo>
                  <a:pt x="0" y="2179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79580" y="4079768"/>
            <a:ext cx="5654740" cy="14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2"/>
              </a:lnSpc>
            </a:pPr>
            <a:r>
              <a:rPr lang="en-US" sz="11032" spc="107">
                <a:solidFill>
                  <a:srgbClr val="F6F6F6"/>
                </a:solidFill>
                <a:latin typeface="Intro Rust"/>
                <a:ea typeface="Intro Rust"/>
                <a:cs typeface="Intro Rust"/>
                <a:sym typeface="Intro Rust"/>
              </a:rPr>
              <a:t>KINDSP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459318" y="3719018"/>
            <a:ext cx="1526980" cy="1991714"/>
          </a:xfrm>
          <a:custGeom>
            <a:avLst/>
            <a:gdLst/>
            <a:ahLst/>
            <a:cxnLst/>
            <a:rect r="r" b="b" t="t" l="l"/>
            <a:pathLst>
              <a:path h="1991714" w="1526980">
                <a:moveTo>
                  <a:pt x="0" y="0"/>
                </a:moveTo>
                <a:lnTo>
                  <a:pt x="1526980" y="0"/>
                </a:lnTo>
                <a:lnTo>
                  <a:pt x="1526980" y="1991714"/>
                </a:lnTo>
                <a:lnTo>
                  <a:pt x="0" y="1991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0177" y="6006559"/>
            <a:ext cx="6543823" cy="1677427"/>
          </a:xfrm>
          <a:custGeom>
            <a:avLst/>
            <a:gdLst/>
            <a:ahLst/>
            <a:cxnLst/>
            <a:rect r="r" b="b" t="t" l="l"/>
            <a:pathLst>
              <a:path h="1677427" w="6543823">
                <a:moveTo>
                  <a:pt x="0" y="0"/>
                </a:moveTo>
                <a:lnTo>
                  <a:pt x="6543823" y="0"/>
                </a:lnTo>
                <a:lnTo>
                  <a:pt x="6543823" y="1677427"/>
                </a:lnTo>
                <a:lnTo>
                  <a:pt x="0" y="16774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1740" t="0" r="-45214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962590" y="619125"/>
            <a:ext cx="3656800" cy="1042188"/>
            <a:chOff x="0" y="0"/>
            <a:chExt cx="4875734" cy="1389584"/>
          </a:xfrm>
        </p:grpSpPr>
        <p:sp>
          <p:nvSpPr>
            <p:cNvPr name="Freeform 11" id="11"/>
            <p:cNvSpPr/>
            <p:nvPr/>
          </p:nvSpPr>
          <p:spPr>
            <a:xfrm flipH="true" flipV="false" rot="0">
              <a:off x="0" y="0"/>
              <a:ext cx="4875734" cy="1389584"/>
            </a:xfrm>
            <a:custGeom>
              <a:avLst/>
              <a:gdLst/>
              <a:ahLst/>
              <a:cxnLst/>
              <a:rect r="r" b="b" t="t" l="l"/>
              <a:pathLst>
                <a:path h="1389584" w="4875734">
                  <a:moveTo>
                    <a:pt x="4875734" y="0"/>
                  </a:moveTo>
                  <a:lnTo>
                    <a:pt x="0" y="0"/>
                  </a:lnTo>
                  <a:lnTo>
                    <a:pt x="0" y="1389584"/>
                  </a:lnTo>
                  <a:lnTo>
                    <a:pt x="4875734" y="1389584"/>
                  </a:lnTo>
                  <a:lnTo>
                    <a:pt x="4875734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true" flipV="false" rot="0">
              <a:off x="1121519" y="335111"/>
              <a:ext cx="2632696" cy="567690"/>
            </a:xfrm>
            <a:custGeom>
              <a:avLst/>
              <a:gdLst/>
              <a:ahLst/>
              <a:cxnLst/>
              <a:rect r="r" b="b" t="t" l="l"/>
              <a:pathLst>
                <a:path h="567690" w="2632696">
                  <a:moveTo>
                    <a:pt x="2632696" y="0"/>
                  </a:moveTo>
                  <a:lnTo>
                    <a:pt x="0" y="0"/>
                  </a:lnTo>
                  <a:lnTo>
                    <a:pt x="0" y="567690"/>
                  </a:lnTo>
                  <a:lnTo>
                    <a:pt x="2632696" y="567690"/>
                  </a:lnTo>
                  <a:lnTo>
                    <a:pt x="2632696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23217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6583777" y="7196605"/>
            <a:ext cx="1485148" cy="2179294"/>
          </a:xfrm>
          <a:custGeom>
            <a:avLst/>
            <a:gdLst/>
            <a:ahLst/>
            <a:cxnLst/>
            <a:rect r="r" b="b" t="t" l="l"/>
            <a:pathLst>
              <a:path h="2179294" w="1485148">
                <a:moveTo>
                  <a:pt x="0" y="0"/>
                </a:moveTo>
                <a:lnTo>
                  <a:pt x="1485148" y="0"/>
                </a:lnTo>
                <a:lnTo>
                  <a:pt x="1485148" y="2179294"/>
                </a:lnTo>
                <a:lnTo>
                  <a:pt x="0" y="21792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800000">
            <a:off x="12880997" y="2639174"/>
            <a:ext cx="3386269" cy="5856680"/>
          </a:xfrm>
          <a:custGeom>
            <a:avLst/>
            <a:gdLst/>
            <a:ahLst/>
            <a:cxnLst/>
            <a:rect r="r" b="b" t="t" l="l"/>
            <a:pathLst>
              <a:path h="5856680" w="3386269">
                <a:moveTo>
                  <a:pt x="0" y="0"/>
                </a:moveTo>
                <a:lnTo>
                  <a:pt x="3386269" y="0"/>
                </a:lnTo>
                <a:lnTo>
                  <a:pt x="3386269" y="5856680"/>
                </a:lnTo>
                <a:lnTo>
                  <a:pt x="0" y="58566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875290" y="8780876"/>
            <a:ext cx="4175599" cy="1190046"/>
            <a:chOff x="0" y="0"/>
            <a:chExt cx="5567466" cy="15867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67466" cy="1586728"/>
            </a:xfrm>
            <a:custGeom>
              <a:avLst/>
              <a:gdLst/>
              <a:ahLst/>
              <a:cxnLst/>
              <a:rect r="r" b="b" t="t" l="l"/>
              <a:pathLst>
                <a:path h="1586728" w="5567466">
                  <a:moveTo>
                    <a:pt x="0" y="0"/>
                  </a:moveTo>
                  <a:lnTo>
                    <a:pt x="5567466" y="0"/>
                  </a:lnTo>
                  <a:lnTo>
                    <a:pt x="5567466" y="1586728"/>
                  </a:lnTo>
                  <a:lnTo>
                    <a:pt x="0" y="1586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61762" y="378082"/>
              <a:ext cx="3243943" cy="567690"/>
            </a:xfrm>
            <a:custGeom>
              <a:avLst/>
              <a:gdLst/>
              <a:ahLst/>
              <a:cxnLst/>
              <a:rect r="r" b="b" t="t" l="l"/>
              <a:pathLst>
                <a:path h="567690" w="3243943">
                  <a:moveTo>
                    <a:pt x="0" y="0"/>
                  </a:moveTo>
                  <a:lnTo>
                    <a:pt x="3243942" y="0"/>
                  </a:lnTo>
                  <a:lnTo>
                    <a:pt x="3243942" y="567690"/>
                  </a:lnTo>
                  <a:lnTo>
                    <a:pt x="0" y="567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940853" y="4079768"/>
            <a:ext cx="923745" cy="148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2"/>
              </a:lnSpc>
            </a:pPr>
            <a:r>
              <a:rPr lang="en-US" sz="11032" spc="107">
                <a:solidFill>
                  <a:srgbClr val="F6F6F6"/>
                </a:solidFill>
                <a:latin typeface="Intro Rust"/>
                <a:ea typeface="Intro Rust"/>
                <a:cs typeface="Intro Rust"/>
                <a:sym typeface="Intro Rust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61616" y="6643220"/>
            <a:ext cx="5020945" cy="35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1"/>
              </a:lnSpc>
            </a:pPr>
            <a:r>
              <a:rPr lang="en-US" sz="2086" spc="312">
                <a:solidFill>
                  <a:srgbClr val="2F3131"/>
                </a:solidFill>
                <a:latin typeface="Aileron"/>
                <a:ea typeface="Aileron"/>
                <a:cs typeface="Aileron"/>
                <a:sym typeface="Aileron"/>
              </a:rPr>
              <a:t>WIELE POTRZEB. JEDNA MAPA.</a:t>
            </a:r>
          </a:p>
        </p:txBody>
      </p:sp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audioFile r:link="rId17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629650" y="4629150"/>
            <a:ext cx="1028700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cmd cmd="playFrom(0.0)">
              <p:cBhvr>
                <p:cTn/>
                <p:tgtEl>
                  <p:spTgt spid="20"/>
                </p:tgtEl>
              </p:cBhvr>
            </p:cmd>
            <p:audio>
              <p:cMediaNode vol="100000" showWhenStopped="false">
                <p:cTn/>
                <p:tgtEl>
                  <p:spTgt spid="20"/>
                </p:tgtEl>
              </p:cMediaNode>
            </p:audi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897265" y="555809"/>
            <a:ext cx="7969240" cy="1733476"/>
          </a:xfrm>
          <a:prstGeom prst="rect">
            <a:avLst/>
          </a:prstGeom>
          <a:solidFill>
            <a:srgbClr val="D10B37"/>
          </a:solidFill>
        </p:spPr>
      </p:sp>
      <p:sp>
        <p:nvSpPr>
          <p:cNvPr name="AutoShape 3" id="3"/>
          <p:cNvSpPr/>
          <p:nvPr/>
        </p:nvSpPr>
        <p:spPr>
          <a:xfrm rot="0">
            <a:off x="9897265" y="4276762"/>
            <a:ext cx="7969240" cy="1733476"/>
          </a:xfrm>
          <a:prstGeom prst="rect">
            <a:avLst/>
          </a:prstGeom>
          <a:solidFill>
            <a:srgbClr val="EF6937"/>
          </a:solidFill>
        </p:spPr>
      </p:sp>
      <p:sp>
        <p:nvSpPr>
          <p:cNvPr name="AutoShape 4" id="4"/>
          <p:cNvSpPr/>
          <p:nvPr/>
        </p:nvSpPr>
        <p:spPr>
          <a:xfrm rot="0">
            <a:off x="9897265" y="2416286"/>
            <a:ext cx="7969240" cy="1733476"/>
          </a:xfrm>
          <a:prstGeom prst="rect">
            <a:avLst/>
          </a:prstGeom>
          <a:solidFill>
            <a:srgbClr val="FF0039"/>
          </a:solidFill>
        </p:spPr>
      </p:sp>
      <p:sp>
        <p:nvSpPr>
          <p:cNvPr name="AutoShape 5" id="5"/>
          <p:cNvSpPr/>
          <p:nvPr/>
        </p:nvSpPr>
        <p:spPr>
          <a:xfrm rot="0">
            <a:off x="9897265" y="6137238"/>
            <a:ext cx="7969240" cy="1733476"/>
          </a:xfrm>
          <a:prstGeom prst="rect">
            <a:avLst/>
          </a:prstGeom>
          <a:solidFill>
            <a:srgbClr val="DA973E"/>
          </a:solid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5400000">
            <a:off x="9028036" y="671773"/>
            <a:ext cx="1733476" cy="1501549"/>
            <a:chOff x="0" y="0"/>
            <a:chExt cx="1841500" cy="1595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5400000">
            <a:off x="9028036" y="4392725"/>
            <a:ext cx="1733476" cy="1501549"/>
            <a:chOff x="0" y="0"/>
            <a:chExt cx="1841500" cy="1595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5400000">
            <a:off x="9028036" y="2532249"/>
            <a:ext cx="1733476" cy="1501549"/>
            <a:chOff x="0" y="0"/>
            <a:chExt cx="1841500" cy="1595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5400000">
            <a:off x="9039462" y="6253202"/>
            <a:ext cx="1733476" cy="1501549"/>
            <a:chOff x="0" y="0"/>
            <a:chExt cx="1841500" cy="1595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5400000">
            <a:off x="9159467" y="785619"/>
            <a:ext cx="1470616" cy="1273858"/>
            <a:chOff x="0" y="0"/>
            <a:chExt cx="1841500" cy="1595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5400000">
            <a:off x="9159467" y="4506571"/>
            <a:ext cx="1470616" cy="1273858"/>
            <a:chOff x="0" y="0"/>
            <a:chExt cx="1841500" cy="1595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5400000">
            <a:off x="9159467" y="2646095"/>
            <a:ext cx="1470616" cy="1273858"/>
            <a:chOff x="0" y="0"/>
            <a:chExt cx="1841500" cy="1595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5400000">
            <a:off x="9170892" y="6367047"/>
            <a:ext cx="1470616" cy="1273858"/>
            <a:chOff x="0" y="0"/>
            <a:chExt cx="1841500" cy="1595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257846" y="1165682"/>
            <a:ext cx="1387703" cy="47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b="true" sz="3090" spc="3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87 %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89852" y="968281"/>
            <a:ext cx="6863897" cy="80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2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Polskich restauracji w OpenStreetMap nie ma żadnej informacji o dostępności dla wózków.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13543" y="4872653"/>
            <a:ext cx="1476310" cy="541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8"/>
              </a:lnSpc>
            </a:pPr>
            <a:r>
              <a:rPr lang="en-US" b="true" sz="3565" spc="356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8 I 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56975" y="4498504"/>
            <a:ext cx="6863897" cy="122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2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Google Maps ma 8 atrybutów dostępności dla ośób z utrudnionym poruszaniem się, ale 0 dotyczących hałasu, tłumu czy światła.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3334" y="2839007"/>
            <a:ext cx="1227861" cy="94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b="true" sz="3090" spc="3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83,6%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02608" y="2844772"/>
            <a:ext cx="6053002" cy="80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2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osób z niepełnosprawnością ruchu wciąż napotyka na trudności architektoniczne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01819" y="6524898"/>
            <a:ext cx="1008761" cy="94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b="true" sz="3090" spc="3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28,8%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62422" y="6587949"/>
            <a:ext cx="6053002" cy="80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2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osób z niepełnosprawnością jest zagrożonych wykluczeniem społecznym oraz bezrobociem.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0388" y="184551"/>
            <a:ext cx="7468883" cy="1237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1"/>
              </a:lnSpc>
            </a:pPr>
            <a:r>
              <a:rPr lang="en-US" b="true" sz="3770" spc="113">
                <a:solidFill>
                  <a:srgbClr val="37C9EF"/>
                </a:solidFill>
                <a:latin typeface="Aileron Heavy"/>
                <a:ea typeface="Aileron Heavy"/>
                <a:cs typeface="Aileron Heavy"/>
                <a:sym typeface="Aileron Heavy"/>
              </a:rPr>
              <a:t>ISTNIEJĄCE NARZĘDZIA</a:t>
            </a:r>
          </a:p>
          <a:p>
            <a:pPr algn="ctr">
              <a:lnSpc>
                <a:spcPts val="4901"/>
              </a:lnSpc>
            </a:pPr>
            <a:r>
              <a:rPr lang="en-US" b="true" sz="3770" spc="113">
                <a:solidFill>
                  <a:srgbClr val="D10B37"/>
                </a:solidFill>
                <a:latin typeface="Aileron Heavy"/>
                <a:ea typeface="Aileron Heavy"/>
                <a:cs typeface="Aileron Heavy"/>
                <a:sym typeface="Aileron Heavy"/>
              </a:rPr>
              <a:t>TO ZA MAŁO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4045" y="1587611"/>
            <a:ext cx="8697080" cy="147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0"/>
              </a:lnSpc>
            </a:pPr>
            <a:r>
              <a:rPr lang="en-US" sz="2793" spc="13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 UE aż 24.9% osób w wieku16+ żyje z jakąś formą niepełnosprawności. W Polsce to 5,4 mln osób.</a:t>
            </a:r>
          </a:p>
        </p:txBody>
      </p:sp>
      <p:sp>
        <p:nvSpPr>
          <p:cNvPr name="AutoShape 32" id="32"/>
          <p:cNvSpPr/>
          <p:nvPr/>
        </p:nvSpPr>
        <p:spPr>
          <a:xfrm rot="0">
            <a:off x="9883349" y="8042164"/>
            <a:ext cx="7969240" cy="1733476"/>
          </a:xfrm>
          <a:prstGeom prst="rect">
            <a:avLst/>
          </a:prstGeom>
          <a:solidFill>
            <a:srgbClr val="FFDE59"/>
          </a:solidFill>
        </p:spPr>
      </p:sp>
      <p:grpSp>
        <p:nvGrpSpPr>
          <p:cNvPr name="Group 33" id="33"/>
          <p:cNvGrpSpPr>
            <a:grpSpLocks noChangeAspect="true"/>
          </p:cNvGrpSpPr>
          <p:nvPr/>
        </p:nvGrpSpPr>
        <p:grpSpPr>
          <a:xfrm rot="5400000">
            <a:off x="9028036" y="8158128"/>
            <a:ext cx="1733476" cy="1501549"/>
            <a:chOff x="0" y="0"/>
            <a:chExt cx="1841500" cy="1595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5400000">
            <a:off x="9159467" y="8271974"/>
            <a:ext cx="1470616" cy="1273858"/>
            <a:chOff x="0" y="0"/>
            <a:chExt cx="1841500" cy="1595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41500" cy="1595120"/>
            </a:xfrm>
            <a:custGeom>
              <a:avLst/>
              <a:gdLst/>
              <a:ahLst/>
              <a:cxnLst/>
              <a:rect r="r" b="b" t="t" l="l"/>
              <a:pathLst>
                <a:path h="1595120" w="1841500">
                  <a:moveTo>
                    <a:pt x="1380490" y="0"/>
                  </a:moveTo>
                  <a:lnTo>
                    <a:pt x="459740" y="0"/>
                  </a:lnTo>
                  <a:lnTo>
                    <a:pt x="0" y="797560"/>
                  </a:lnTo>
                  <a:lnTo>
                    <a:pt x="459740" y="1595120"/>
                  </a:lnTo>
                  <a:lnTo>
                    <a:pt x="1380490" y="1595120"/>
                  </a:lnTo>
                  <a:lnTo>
                    <a:pt x="1841500" y="797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370994" y="8429824"/>
            <a:ext cx="1024709" cy="94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b="true" sz="3090" spc="309">
                <a:solidFill>
                  <a:srgbClr val="191919"/>
                </a:solidFill>
                <a:latin typeface="Aileron Bold"/>
                <a:ea typeface="Aileron Bold"/>
                <a:cs typeface="Aileron Bold"/>
                <a:sym typeface="Aileron Bold"/>
              </a:rPr>
              <a:t>100%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89852" y="8255488"/>
            <a:ext cx="6863897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200">
                <a:solidFill>
                  <a:srgbClr val="D10B37"/>
                </a:solidFill>
                <a:latin typeface="Aileron"/>
                <a:ea typeface="Aileron"/>
                <a:cs typeface="Aileron"/>
                <a:sym typeface="Aileron"/>
              </a:rPr>
              <a:t>W każdym kraju UE osoby z niepełnosprawnością rzadziej chodzą na koncerty, wydarzenia sportowe czy do kina. Nie są aktywni w życiu społecznym.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84995" y="6286937"/>
            <a:ext cx="8697080" cy="345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0"/>
              </a:lnSpc>
            </a:pPr>
            <a:r>
              <a:rPr lang="en-US" sz="2793" spc="13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Do tego istnieje w Polsce około 30 osobnych aplikacji, z których każda obejmuje tylko wycinek życia - osobna apka do parkingów, osobna do muzeów, itp. Ponadto najcenniejsza wiedza, od osób, które same mierzą się z barierami, trafia nie do twórców aplikacji, a na grupy wsparcia na Facebooku...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04045" y="3385134"/>
            <a:ext cx="8697080" cy="147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0"/>
              </a:lnSpc>
            </a:pPr>
            <a:r>
              <a:rPr lang="en-US" sz="2793" spc="13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Mimo tego, ponad 87 % obiektów użyteczności publicznej nie przeszło kontroli NIK 2026 dot. minimalnych warunków dostępności.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4045" y="5033433"/>
            <a:ext cx="8697080" cy="97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0"/>
              </a:lnSpc>
            </a:pPr>
            <a:r>
              <a:rPr lang="en-US" sz="2793" spc="13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Ponad 80 % badanych w Polsce mówi, że niepełnosprawność utrudnia im życie.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08" y="389462"/>
            <a:ext cx="5127867" cy="7320354"/>
          </a:xfrm>
          <a:custGeom>
            <a:avLst/>
            <a:gdLst/>
            <a:ahLst/>
            <a:cxnLst/>
            <a:rect r="r" b="b" t="t" l="l"/>
            <a:pathLst>
              <a:path h="7320354" w="5127867">
                <a:moveTo>
                  <a:pt x="0" y="0"/>
                </a:moveTo>
                <a:lnTo>
                  <a:pt x="5127867" y="0"/>
                </a:lnTo>
                <a:lnTo>
                  <a:pt x="5127867" y="7320354"/>
                </a:lnTo>
                <a:lnTo>
                  <a:pt x="0" y="732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15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595734" y="6867828"/>
            <a:ext cx="2482018" cy="3673487"/>
            <a:chOff x="0" y="0"/>
            <a:chExt cx="4975860" cy="73644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5860" cy="7364473"/>
            </a:xfrm>
            <a:custGeom>
              <a:avLst/>
              <a:gdLst/>
              <a:ahLst/>
              <a:cxnLst/>
              <a:rect r="r" b="b" t="t" l="l"/>
              <a:pathLst>
                <a:path h="7364473" w="4975860">
                  <a:moveTo>
                    <a:pt x="4975860" y="0"/>
                  </a:moveTo>
                  <a:lnTo>
                    <a:pt x="4975860" y="6493253"/>
                  </a:lnTo>
                  <a:lnTo>
                    <a:pt x="2486660" y="7364473"/>
                  </a:lnTo>
                  <a:lnTo>
                    <a:pt x="0" y="6493253"/>
                  </a:lnTo>
                  <a:lnTo>
                    <a:pt x="1270" y="5644304"/>
                  </a:lnTo>
                  <a:lnTo>
                    <a:pt x="6350" y="1826992"/>
                  </a:lnTo>
                  <a:lnTo>
                    <a:pt x="0" y="0"/>
                  </a:lnTo>
                  <a:lnTo>
                    <a:pt x="4975860" y="0"/>
                  </a:lnTo>
                  <a:close/>
                </a:path>
              </a:pathLst>
            </a:custGeom>
            <a:solidFill>
              <a:srgbClr val="13538A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376322" y="389462"/>
            <a:ext cx="5139296" cy="6988511"/>
          </a:xfrm>
          <a:custGeom>
            <a:avLst/>
            <a:gdLst/>
            <a:ahLst/>
            <a:cxnLst/>
            <a:rect r="r" b="b" t="t" l="l"/>
            <a:pathLst>
              <a:path h="6988511" w="5139296">
                <a:moveTo>
                  <a:pt x="0" y="0"/>
                </a:moveTo>
                <a:lnTo>
                  <a:pt x="5139295" y="0"/>
                </a:lnTo>
                <a:lnTo>
                  <a:pt x="5139295" y="6988512"/>
                </a:lnTo>
                <a:lnTo>
                  <a:pt x="0" y="69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10" b="-30924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03130" y="7459383"/>
            <a:ext cx="3796254" cy="2486197"/>
            <a:chOff x="0" y="0"/>
            <a:chExt cx="5061672" cy="3314930"/>
          </a:xfrm>
        </p:grpSpPr>
        <p:grpSp>
          <p:nvGrpSpPr>
            <p:cNvPr name="Group 7" id="7"/>
            <p:cNvGrpSpPr/>
            <p:nvPr/>
          </p:nvGrpSpPr>
          <p:grpSpPr>
            <a:xfrm rot="5400000">
              <a:off x="-1205413" y="1205413"/>
              <a:ext cx="3314930" cy="904104"/>
              <a:chOff x="0" y="0"/>
              <a:chExt cx="5765800" cy="157254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765800" cy="1572547"/>
              </a:xfrm>
              <a:custGeom>
                <a:avLst/>
                <a:gdLst/>
                <a:ahLst/>
                <a:cxnLst/>
                <a:rect r="r" b="b" t="t" l="l"/>
                <a:pathLst>
                  <a:path h="1572547" w="5765800">
                    <a:moveTo>
                      <a:pt x="5765800" y="0"/>
                    </a:moveTo>
                    <a:lnTo>
                      <a:pt x="5765800" y="1572547"/>
                    </a:lnTo>
                    <a:lnTo>
                      <a:pt x="2881630" y="584487"/>
                    </a:lnTo>
                    <a:lnTo>
                      <a:pt x="0" y="1572547"/>
                    </a:lnTo>
                    <a:lnTo>
                      <a:pt x="3810" y="410304"/>
                    </a:lnTo>
                    <a:lnTo>
                      <a:pt x="8890" y="174000"/>
                    </a:lnTo>
                    <a:lnTo>
                      <a:pt x="10160" y="0"/>
                    </a:lnTo>
                    <a:lnTo>
                      <a:pt x="5765800" y="0"/>
                    </a:lnTo>
                    <a:close/>
                  </a:path>
                </a:pathLst>
              </a:custGeom>
              <a:solidFill>
                <a:srgbClr val="2C92D5">
                  <a:alpha val="94902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1230061" y="-516681"/>
              <a:ext cx="3309358" cy="4353863"/>
              <a:chOff x="0" y="0"/>
              <a:chExt cx="4975860" cy="654635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75860" cy="6546350"/>
              </a:xfrm>
              <a:custGeom>
                <a:avLst/>
                <a:gdLst/>
                <a:ahLst/>
                <a:cxnLst/>
                <a:rect r="r" b="b" t="t" l="l"/>
                <a:pathLst>
                  <a:path h="6546350" w="4975860">
                    <a:moveTo>
                      <a:pt x="4975860" y="0"/>
                    </a:moveTo>
                    <a:lnTo>
                      <a:pt x="4975860" y="5675130"/>
                    </a:lnTo>
                    <a:lnTo>
                      <a:pt x="2486660" y="6546350"/>
                    </a:lnTo>
                    <a:lnTo>
                      <a:pt x="0" y="5675130"/>
                    </a:lnTo>
                    <a:lnTo>
                      <a:pt x="1270" y="4933172"/>
                    </a:lnTo>
                    <a:lnTo>
                      <a:pt x="6350" y="1603127"/>
                    </a:lnTo>
                    <a:lnTo>
                      <a:pt x="0" y="0"/>
                    </a:lnTo>
                    <a:lnTo>
                      <a:pt x="4975860" y="0"/>
                    </a:lnTo>
                    <a:close/>
                  </a:path>
                </a:pathLst>
              </a:custGeom>
              <a:solidFill>
                <a:srgbClr val="2C92D5">
                  <a:alpha val="94902"/>
                </a:srgbClr>
              </a:solid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6929026" y="7459383"/>
            <a:ext cx="3796254" cy="2486197"/>
            <a:chOff x="0" y="0"/>
            <a:chExt cx="5061672" cy="3314930"/>
          </a:xfrm>
        </p:grpSpPr>
        <p:grpSp>
          <p:nvGrpSpPr>
            <p:cNvPr name="Group 12" id="12"/>
            <p:cNvGrpSpPr/>
            <p:nvPr/>
          </p:nvGrpSpPr>
          <p:grpSpPr>
            <a:xfrm rot="5400000">
              <a:off x="-1205413" y="1205413"/>
              <a:ext cx="3314930" cy="904104"/>
              <a:chOff x="0" y="0"/>
              <a:chExt cx="5765800" cy="157254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765800" cy="1572547"/>
              </a:xfrm>
              <a:custGeom>
                <a:avLst/>
                <a:gdLst/>
                <a:ahLst/>
                <a:cxnLst/>
                <a:rect r="r" b="b" t="t" l="l"/>
                <a:pathLst>
                  <a:path h="1572547" w="5765800">
                    <a:moveTo>
                      <a:pt x="5765800" y="0"/>
                    </a:moveTo>
                    <a:lnTo>
                      <a:pt x="5765800" y="1572547"/>
                    </a:lnTo>
                    <a:lnTo>
                      <a:pt x="2881630" y="584487"/>
                    </a:lnTo>
                    <a:lnTo>
                      <a:pt x="0" y="1572547"/>
                    </a:lnTo>
                    <a:lnTo>
                      <a:pt x="3810" y="410304"/>
                    </a:lnTo>
                    <a:lnTo>
                      <a:pt x="8890" y="174000"/>
                    </a:lnTo>
                    <a:lnTo>
                      <a:pt x="10160" y="0"/>
                    </a:lnTo>
                    <a:lnTo>
                      <a:pt x="5765800" y="0"/>
                    </a:lnTo>
                    <a:close/>
                  </a:path>
                </a:pathLst>
              </a:custGeom>
              <a:solidFill>
                <a:srgbClr val="37C9EF">
                  <a:alpha val="89804"/>
                </a:srgbClr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1230061" y="-516681"/>
              <a:ext cx="3309358" cy="4353863"/>
              <a:chOff x="0" y="0"/>
              <a:chExt cx="4975860" cy="65463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975860" cy="6546350"/>
              </a:xfrm>
              <a:custGeom>
                <a:avLst/>
                <a:gdLst/>
                <a:ahLst/>
                <a:cxnLst/>
                <a:rect r="r" b="b" t="t" l="l"/>
                <a:pathLst>
                  <a:path h="6546350" w="4975860">
                    <a:moveTo>
                      <a:pt x="4975860" y="0"/>
                    </a:moveTo>
                    <a:lnTo>
                      <a:pt x="4975860" y="5675130"/>
                    </a:lnTo>
                    <a:lnTo>
                      <a:pt x="2486660" y="6546350"/>
                    </a:lnTo>
                    <a:lnTo>
                      <a:pt x="0" y="5675130"/>
                    </a:lnTo>
                    <a:lnTo>
                      <a:pt x="1270" y="4933172"/>
                    </a:lnTo>
                    <a:lnTo>
                      <a:pt x="6350" y="1603127"/>
                    </a:lnTo>
                    <a:lnTo>
                      <a:pt x="0" y="0"/>
                    </a:lnTo>
                    <a:lnTo>
                      <a:pt x="4975860" y="0"/>
                    </a:lnTo>
                    <a:close/>
                  </a:path>
                </a:pathLst>
              </a:custGeom>
              <a:solidFill>
                <a:srgbClr val="37C9EF">
                  <a:alpha val="89804"/>
                </a:srgbClr>
              </a:solidFill>
            </p:spPr>
          </p:sp>
        </p:grpSp>
      </p:grpSp>
      <p:grpSp>
        <p:nvGrpSpPr>
          <p:cNvPr name="Group 16" id="16"/>
          <p:cNvGrpSpPr/>
          <p:nvPr/>
        </p:nvGrpSpPr>
        <p:grpSpPr>
          <a:xfrm rot="0">
            <a:off x="10454922" y="7459383"/>
            <a:ext cx="3796254" cy="2486197"/>
            <a:chOff x="0" y="0"/>
            <a:chExt cx="5061672" cy="3314930"/>
          </a:xfrm>
        </p:grpSpPr>
        <p:grpSp>
          <p:nvGrpSpPr>
            <p:cNvPr name="Group 17" id="17"/>
            <p:cNvGrpSpPr/>
            <p:nvPr/>
          </p:nvGrpSpPr>
          <p:grpSpPr>
            <a:xfrm rot="5400000">
              <a:off x="-1205413" y="1205413"/>
              <a:ext cx="3314930" cy="904104"/>
              <a:chOff x="0" y="0"/>
              <a:chExt cx="5765800" cy="157254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765800" cy="1572547"/>
              </a:xfrm>
              <a:custGeom>
                <a:avLst/>
                <a:gdLst/>
                <a:ahLst/>
                <a:cxnLst/>
                <a:rect r="r" b="b" t="t" l="l"/>
                <a:pathLst>
                  <a:path h="1572547" w="5765800">
                    <a:moveTo>
                      <a:pt x="5765800" y="0"/>
                    </a:moveTo>
                    <a:lnTo>
                      <a:pt x="5765800" y="1572547"/>
                    </a:lnTo>
                    <a:lnTo>
                      <a:pt x="2881630" y="584487"/>
                    </a:lnTo>
                    <a:lnTo>
                      <a:pt x="0" y="1572547"/>
                    </a:lnTo>
                    <a:lnTo>
                      <a:pt x="3810" y="410304"/>
                    </a:lnTo>
                    <a:lnTo>
                      <a:pt x="8890" y="174000"/>
                    </a:lnTo>
                    <a:lnTo>
                      <a:pt x="10160" y="0"/>
                    </a:lnTo>
                    <a:lnTo>
                      <a:pt x="5765800" y="0"/>
                    </a:lnTo>
                    <a:close/>
                  </a:path>
                </a:pathLst>
              </a:custGeom>
              <a:solidFill>
                <a:srgbClr val="3EDAD8">
                  <a:alpha val="84706"/>
                </a:srgbClr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-5400000">
              <a:off x="1230061" y="-516681"/>
              <a:ext cx="3309358" cy="4353863"/>
              <a:chOff x="0" y="0"/>
              <a:chExt cx="4975860" cy="65463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975860" cy="6546350"/>
              </a:xfrm>
              <a:custGeom>
                <a:avLst/>
                <a:gdLst/>
                <a:ahLst/>
                <a:cxnLst/>
                <a:rect r="r" b="b" t="t" l="l"/>
                <a:pathLst>
                  <a:path h="6546350" w="4975860">
                    <a:moveTo>
                      <a:pt x="4975860" y="0"/>
                    </a:moveTo>
                    <a:lnTo>
                      <a:pt x="4975860" y="5675130"/>
                    </a:lnTo>
                    <a:lnTo>
                      <a:pt x="2486660" y="6546350"/>
                    </a:lnTo>
                    <a:lnTo>
                      <a:pt x="0" y="5675130"/>
                    </a:lnTo>
                    <a:lnTo>
                      <a:pt x="1270" y="4933172"/>
                    </a:lnTo>
                    <a:lnTo>
                      <a:pt x="6350" y="1603127"/>
                    </a:lnTo>
                    <a:lnTo>
                      <a:pt x="0" y="0"/>
                    </a:lnTo>
                    <a:lnTo>
                      <a:pt x="4975860" y="0"/>
                    </a:lnTo>
                    <a:close/>
                  </a:path>
                </a:pathLst>
              </a:custGeom>
              <a:solidFill>
                <a:srgbClr val="3EDAD8">
                  <a:alpha val="84706"/>
                </a:srgbClr>
              </a:solidFill>
            </p:spPr>
          </p:sp>
        </p:grpSp>
      </p:grpSp>
      <p:grpSp>
        <p:nvGrpSpPr>
          <p:cNvPr name="Group 21" id="21"/>
          <p:cNvGrpSpPr/>
          <p:nvPr/>
        </p:nvGrpSpPr>
        <p:grpSpPr>
          <a:xfrm rot="0">
            <a:off x="14036758" y="7463562"/>
            <a:ext cx="3796254" cy="2486197"/>
            <a:chOff x="0" y="0"/>
            <a:chExt cx="5061672" cy="3314930"/>
          </a:xfrm>
        </p:grpSpPr>
        <p:grpSp>
          <p:nvGrpSpPr>
            <p:cNvPr name="Group 22" id="22"/>
            <p:cNvGrpSpPr/>
            <p:nvPr/>
          </p:nvGrpSpPr>
          <p:grpSpPr>
            <a:xfrm rot="5400000">
              <a:off x="-1205413" y="1205413"/>
              <a:ext cx="3314930" cy="904104"/>
              <a:chOff x="0" y="0"/>
              <a:chExt cx="5765800" cy="157254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765800" cy="1572547"/>
              </a:xfrm>
              <a:custGeom>
                <a:avLst/>
                <a:gdLst/>
                <a:ahLst/>
                <a:cxnLst/>
                <a:rect r="r" b="b" t="t" l="l"/>
                <a:pathLst>
                  <a:path h="1572547" w="5765800">
                    <a:moveTo>
                      <a:pt x="5765800" y="0"/>
                    </a:moveTo>
                    <a:lnTo>
                      <a:pt x="5765800" y="1572547"/>
                    </a:lnTo>
                    <a:lnTo>
                      <a:pt x="2881630" y="584487"/>
                    </a:lnTo>
                    <a:lnTo>
                      <a:pt x="0" y="1572547"/>
                    </a:lnTo>
                    <a:lnTo>
                      <a:pt x="3810" y="410304"/>
                    </a:lnTo>
                    <a:lnTo>
                      <a:pt x="8890" y="174000"/>
                    </a:lnTo>
                    <a:lnTo>
                      <a:pt x="10160" y="0"/>
                    </a:lnTo>
                    <a:lnTo>
                      <a:pt x="5765800" y="0"/>
                    </a:lnTo>
                    <a:close/>
                  </a:path>
                </a:pathLst>
              </a:custGeom>
              <a:solidFill>
                <a:srgbClr val="86EAE9">
                  <a:alpha val="80000"/>
                </a:srgbClr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-5400000">
              <a:off x="1230061" y="-516681"/>
              <a:ext cx="3309358" cy="4353863"/>
              <a:chOff x="0" y="0"/>
              <a:chExt cx="4975860" cy="654635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75860" cy="6546350"/>
              </a:xfrm>
              <a:custGeom>
                <a:avLst/>
                <a:gdLst/>
                <a:ahLst/>
                <a:cxnLst/>
                <a:rect r="r" b="b" t="t" l="l"/>
                <a:pathLst>
                  <a:path h="6546350" w="4975860">
                    <a:moveTo>
                      <a:pt x="4975860" y="0"/>
                    </a:moveTo>
                    <a:lnTo>
                      <a:pt x="4975860" y="5675130"/>
                    </a:lnTo>
                    <a:lnTo>
                      <a:pt x="2486660" y="6546350"/>
                    </a:lnTo>
                    <a:lnTo>
                      <a:pt x="0" y="5675130"/>
                    </a:lnTo>
                    <a:lnTo>
                      <a:pt x="1270" y="4933172"/>
                    </a:lnTo>
                    <a:lnTo>
                      <a:pt x="6350" y="1603127"/>
                    </a:lnTo>
                    <a:lnTo>
                      <a:pt x="0" y="0"/>
                    </a:lnTo>
                    <a:lnTo>
                      <a:pt x="4975860" y="0"/>
                    </a:lnTo>
                    <a:close/>
                  </a:path>
                </a:pathLst>
              </a:custGeom>
              <a:solidFill>
                <a:srgbClr val="86EAE9">
                  <a:alpha val="80000"/>
                </a:srgbClr>
              </a:solidFill>
            </p:spPr>
          </p:sp>
        </p:grpSp>
      </p:grpSp>
      <p:grpSp>
        <p:nvGrpSpPr>
          <p:cNvPr name="Group 26" id="26"/>
          <p:cNvGrpSpPr/>
          <p:nvPr/>
        </p:nvGrpSpPr>
        <p:grpSpPr>
          <a:xfrm rot="5400000">
            <a:off x="16674056" y="8331636"/>
            <a:ext cx="2486197" cy="741692"/>
            <a:chOff x="0" y="0"/>
            <a:chExt cx="5765800" cy="17200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65800" cy="1720075"/>
            </a:xfrm>
            <a:custGeom>
              <a:avLst/>
              <a:gdLst/>
              <a:ahLst/>
              <a:cxnLst/>
              <a:rect r="r" b="b" t="t" l="l"/>
              <a:pathLst>
                <a:path h="1720075" w="5765800">
                  <a:moveTo>
                    <a:pt x="5765800" y="0"/>
                  </a:moveTo>
                  <a:lnTo>
                    <a:pt x="5765800" y="1720075"/>
                  </a:lnTo>
                  <a:lnTo>
                    <a:pt x="2881630" y="732015"/>
                  </a:lnTo>
                  <a:lnTo>
                    <a:pt x="0" y="1720075"/>
                  </a:lnTo>
                  <a:lnTo>
                    <a:pt x="3810" y="529444"/>
                  </a:lnTo>
                  <a:lnTo>
                    <a:pt x="8890" y="193765"/>
                  </a:lnTo>
                  <a:lnTo>
                    <a:pt x="10160" y="0"/>
                  </a:lnTo>
                  <a:lnTo>
                    <a:pt x="5765800" y="0"/>
                  </a:lnTo>
                  <a:close/>
                </a:path>
              </a:pathLst>
            </a:custGeom>
            <a:solidFill>
              <a:srgbClr val="86EAE9">
                <a:alpha val="7490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638449" y="5427120"/>
            <a:ext cx="1325616" cy="2059407"/>
            <a:chOff x="0" y="0"/>
            <a:chExt cx="1767488" cy="2745877"/>
          </a:xfrm>
        </p:grpSpPr>
        <p:sp>
          <p:nvSpPr>
            <p:cNvPr name="AutoShape 29" id="29"/>
            <p:cNvSpPr/>
            <p:nvPr/>
          </p:nvSpPr>
          <p:spPr>
            <a:xfrm rot="0">
              <a:off x="842865" y="1418178"/>
              <a:ext cx="81758" cy="1327698"/>
            </a:xfrm>
            <a:prstGeom prst="rect">
              <a:avLst/>
            </a:prstGeom>
            <a:solidFill>
              <a:srgbClr val="2C92D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67488" cy="1767488"/>
            </a:xfrm>
            <a:custGeom>
              <a:avLst/>
              <a:gdLst/>
              <a:ahLst/>
              <a:cxnLst/>
              <a:rect r="r" b="b" t="t" l="l"/>
              <a:pathLst>
                <a:path h="1767488" w="1767488">
                  <a:moveTo>
                    <a:pt x="0" y="0"/>
                  </a:moveTo>
                  <a:lnTo>
                    <a:pt x="1767488" y="0"/>
                  </a:lnTo>
                  <a:lnTo>
                    <a:pt x="1767488" y="1767488"/>
                  </a:lnTo>
                  <a:lnTo>
                    <a:pt x="0" y="1767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40879" y="53572"/>
              <a:ext cx="1713916" cy="1713916"/>
            </a:xfrm>
            <a:custGeom>
              <a:avLst/>
              <a:gdLst/>
              <a:ahLst/>
              <a:cxnLst/>
              <a:rect r="r" b="b" t="t" l="l"/>
              <a:pathLst>
                <a:path h="1713916" w="1713916">
                  <a:moveTo>
                    <a:pt x="0" y="0"/>
                  </a:moveTo>
                  <a:lnTo>
                    <a:pt x="1713916" y="0"/>
                  </a:lnTo>
                  <a:lnTo>
                    <a:pt x="1713916" y="1713916"/>
                  </a:lnTo>
                  <a:lnTo>
                    <a:pt x="0" y="1713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07962" y="5427120"/>
            <a:ext cx="1325616" cy="2032264"/>
            <a:chOff x="0" y="0"/>
            <a:chExt cx="1767488" cy="2709685"/>
          </a:xfrm>
        </p:grpSpPr>
        <p:sp>
          <p:nvSpPr>
            <p:cNvPr name="AutoShape 33" id="33"/>
            <p:cNvSpPr/>
            <p:nvPr/>
          </p:nvSpPr>
          <p:spPr>
            <a:xfrm rot="0">
              <a:off x="842865" y="1381986"/>
              <a:ext cx="81758" cy="1327698"/>
            </a:xfrm>
            <a:prstGeom prst="rect">
              <a:avLst/>
            </a:prstGeom>
            <a:solidFill>
              <a:srgbClr val="13538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67488" cy="1767488"/>
            </a:xfrm>
            <a:custGeom>
              <a:avLst/>
              <a:gdLst/>
              <a:ahLst/>
              <a:cxnLst/>
              <a:rect r="r" b="b" t="t" l="l"/>
              <a:pathLst>
                <a:path h="1767488" w="1767488">
                  <a:moveTo>
                    <a:pt x="0" y="0"/>
                  </a:moveTo>
                  <a:lnTo>
                    <a:pt x="1767488" y="0"/>
                  </a:lnTo>
                  <a:lnTo>
                    <a:pt x="1767488" y="1767488"/>
                  </a:lnTo>
                  <a:lnTo>
                    <a:pt x="0" y="1767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70841" y="270841"/>
              <a:ext cx="1225806" cy="1225806"/>
            </a:xfrm>
            <a:custGeom>
              <a:avLst/>
              <a:gdLst/>
              <a:ahLst/>
              <a:cxnLst/>
              <a:rect r="r" b="b" t="t" l="l"/>
              <a:pathLst>
                <a:path h="1225806" w="1225806">
                  <a:moveTo>
                    <a:pt x="0" y="0"/>
                  </a:moveTo>
                  <a:lnTo>
                    <a:pt x="1225806" y="0"/>
                  </a:lnTo>
                  <a:lnTo>
                    <a:pt x="1225806" y="1225806"/>
                  </a:lnTo>
                  <a:lnTo>
                    <a:pt x="0" y="1225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164345" y="5427120"/>
            <a:ext cx="1325616" cy="2059407"/>
            <a:chOff x="0" y="0"/>
            <a:chExt cx="1767488" cy="2745877"/>
          </a:xfrm>
        </p:grpSpPr>
        <p:sp>
          <p:nvSpPr>
            <p:cNvPr name="AutoShape 37" id="37"/>
            <p:cNvSpPr/>
            <p:nvPr/>
          </p:nvSpPr>
          <p:spPr>
            <a:xfrm rot="0">
              <a:off x="842865" y="1418178"/>
              <a:ext cx="81758" cy="1327698"/>
            </a:xfrm>
            <a:prstGeom prst="rect">
              <a:avLst/>
            </a:prstGeom>
            <a:solidFill>
              <a:srgbClr val="37C9E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67488" cy="1767488"/>
            </a:xfrm>
            <a:custGeom>
              <a:avLst/>
              <a:gdLst/>
              <a:ahLst/>
              <a:cxnLst/>
              <a:rect r="r" b="b" t="t" l="l"/>
              <a:pathLst>
                <a:path h="1767488" w="1767488">
                  <a:moveTo>
                    <a:pt x="0" y="0"/>
                  </a:moveTo>
                  <a:lnTo>
                    <a:pt x="1767488" y="0"/>
                  </a:lnTo>
                  <a:lnTo>
                    <a:pt x="1767488" y="1767488"/>
                  </a:lnTo>
                  <a:lnTo>
                    <a:pt x="0" y="1767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467531" y="244877"/>
              <a:ext cx="832427" cy="1251769"/>
            </a:xfrm>
            <a:custGeom>
              <a:avLst/>
              <a:gdLst/>
              <a:ahLst/>
              <a:cxnLst/>
              <a:rect r="r" b="b" t="t" l="l"/>
              <a:pathLst>
                <a:path h="1251769" w="832427">
                  <a:moveTo>
                    <a:pt x="0" y="0"/>
                  </a:moveTo>
                  <a:lnTo>
                    <a:pt x="832426" y="0"/>
                  </a:lnTo>
                  <a:lnTo>
                    <a:pt x="832426" y="1251770"/>
                  </a:lnTo>
                  <a:lnTo>
                    <a:pt x="0" y="125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690241" y="5427120"/>
            <a:ext cx="1325616" cy="2032264"/>
            <a:chOff x="0" y="0"/>
            <a:chExt cx="1767488" cy="2709685"/>
          </a:xfrm>
        </p:grpSpPr>
        <p:sp>
          <p:nvSpPr>
            <p:cNvPr name="AutoShape 41" id="41"/>
            <p:cNvSpPr/>
            <p:nvPr/>
          </p:nvSpPr>
          <p:spPr>
            <a:xfrm rot="0">
              <a:off x="842865" y="1381986"/>
              <a:ext cx="81758" cy="1327698"/>
            </a:xfrm>
            <a:prstGeom prst="rect">
              <a:avLst/>
            </a:prstGeom>
            <a:solidFill>
              <a:srgbClr val="3EDAD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67488" cy="1767488"/>
            </a:xfrm>
            <a:custGeom>
              <a:avLst/>
              <a:gdLst/>
              <a:ahLst/>
              <a:cxnLst/>
              <a:rect r="r" b="b" t="t" l="l"/>
              <a:pathLst>
                <a:path h="1767488" w="1767488">
                  <a:moveTo>
                    <a:pt x="0" y="0"/>
                  </a:moveTo>
                  <a:lnTo>
                    <a:pt x="1767488" y="0"/>
                  </a:lnTo>
                  <a:lnTo>
                    <a:pt x="1767488" y="1767488"/>
                  </a:lnTo>
                  <a:lnTo>
                    <a:pt x="0" y="1767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60222" y="196586"/>
              <a:ext cx="1328802" cy="1322158"/>
            </a:xfrm>
            <a:custGeom>
              <a:avLst/>
              <a:gdLst/>
              <a:ahLst/>
              <a:cxnLst/>
              <a:rect r="r" b="b" t="t" l="l"/>
              <a:pathLst>
                <a:path h="1322158" w="1328802">
                  <a:moveTo>
                    <a:pt x="0" y="0"/>
                  </a:moveTo>
                  <a:lnTo>
                    <a:pt x="1328802" y="0"/>
                  </a:lnTo>
                  <a:lnTo>
                    <a:pt x="1328802" y="1322158"/>
                  </a:lnTo>
                  <a:lnTo>
                    <a:pt x="0" y="1322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229163" y="5427120"/>
            <a:ext cx="1325616" cy="2059407"/>
            <a:chOff x="0" y="0"/>
            <a:chExt cx="1767488" cy="2745877"/>
          </a:xfrm>
        </p:grpSpPr>
        <p:sp>
          <p:nvSpPr>
            <p:cNvPr name="AutoShape 45" id="45"/>
            <p:cNvSpPr/>
            <p:nvPr/>
          </p:nvSpPr>
          <p:spPr>
            <a:xfrm rot="0">
              <a:off x="842865" y="1418178"/>
              <a:ext cx="81758" cy="1327698"/>
            </a:xfrm>
            <a:prstGeom prst="rect">
              <a:avLst/>
            </a:prstGeom>
            <a:solidFill>
              <a:srgbClr val="86EAE9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67488" cy="1767488"/>
            </a:xfrm>
            <a:custGeom>
              <a:avLst/>
              <a:gdLst/>
              <a:ahLst/>
              <a:cxnLst/>
              <a:rect r="r" b="b" t="t" l="l"/>
              <a:pathLst>
                <a:path h="1767488" w="1767488">
                  <a:moveTo>
                    <a:pt x="0" y="0"/>
                  </a:moveTo>
                  <a:lnTo>
                    <a:pt x="1767488" y="0"/>
                  </a:lnTo>
                  <a:lnTo>
                    <a:pt x="1767488" y="1767488"/>
                  </a:lnTo>
                  <a:lnTo>
                    <a:pt x="0" y="1767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93380" y="244877"/>
              <a:ext cx="1380728" cy="1401754"/>
            </a:xfrm>
            <a:custGeom>
              <a:avLst/>
              <a:gdLst/>
              <a:ahLst/>
              <a:cxnLst/>
              <a:rect r="r" b="b" t="t" l="l"/>
              <a:pathLst>
                <a:path h="1401754" w="1380728">
                  <a:moveTo>
                    <a:pt x="0" y="0"/>
                  </a:moveTo>
                  <a:lnTo>
                    <a:pt x="1380728" y="0"/>
                  </a:lnTo>
                  <a:lnTo>
                    <a:pt x="1380728" y="1401755"/>
                  </a:lnTo>
                  <a:lnTo>
                    <a:pt x="0" y="1401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1006215" y="589319"/>
            <a:ext cx="614682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07">
                <a:solidFill>
                  <a:srgbClr val="37C9EF"/>
                </a:solidFill>
                <a:latin typeface="Aileron Heavy"/>
                <a:ea typeface="Aileron Heavy"/>
                <a:cs typeface="Aileron Heavy"/>
                <a:sym typeface="Aileron Heavy"/>
              </a:rPr>
              <a:t>CZYM JEST KINDSPOT?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39497" y="1534199"/>
            <a:ext cx="7193515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13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To mapa, na której dostępność oceniają osoby o podobnych potrzebach. Zamiast jednej, ogólnej oceny mogą zobaczyć szczegóły: Jak jest z podjazdem, toaletą, hałasem, czy oświetleniem i co ważniejsze - kiedy ostatnio ktoś to sprawdzał. (indywidualne potrzeby recenzenta nie są widoczne dla innych użytkowników.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0275" y="7730581"/>
            <a:ext cx="2959004" cy="186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8"/>
              </a:lnSpc>
            </a:pPr>
            <a:r>
              <a:rPr lang="en-US" sz="249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Wyróżniamy 16 rodzajów potrzeb - od wózka po wrażliwość na hałas.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872014" y="7959532"/>
            <a:ext cx="2858484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1"/>
              </a:lnSpc>
            </a:pPr>
            <a:r>
              <a:rPr lang="en-US" sz="247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Zamieszczamy oceny konkretnych udogodnień, nie ogólne gwiazdki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399811" y="7807501"/>
            <a:ext cx="2931285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Opinie są oznaczane datą. Jest w nich wzmianka o awariach, remontach, itp.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06215" y="7816482"/>
            <a:ext cx="2706693" cy="170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27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To użytkownicy wystawiają opinię. W oparciu o osobiste doświadczenie.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527400" y="7969125"/>
            <a:ext cx="2946683" cy="139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248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Potrzeby każdego z użytkowników pozostają prywatne.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4516851" cy="2103489"/>
          </a:xfrm>
          <a:prstGeom prst="rect">
            <a:avLst/>
          </a:prstGeom>
          <a:solidFill>
            <a:srgbClr val="13538A"/>
          </a:solid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429320.0000" end="15926.6660"/>
                </p14:media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6265118" y="235405"/>
            <a:ext cx="5757765" cy="9816189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306391" y="235405"/>
            <a:ext cx="3904068" cy="1685558"/>
            <a:chOff x="0" y="0"/>
            <a:chExt cx="5205424" cy="224741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205424" cy="638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65"/>
                </a:lnSpc>
              </a:pPr>
              <a:r>
                <a:rPr lang="en-US" b="true" sz="2973" spc="89">
                  <a:solidFill>
                    <a:srgbClr val="FFFFF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Jak to działa?/film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52589"/>
              <a:ext cx="5205424" cy="1494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63608" indent="-231804" lvl="1">
                <a:lnSpc>
                  <a:spcPts val="3006"/>
                </a:lnSpc>
                <a:buAutoNum type="arabicPeriod" startAt="1"/>
              </a:pPr>
              <a:r>
                <a:rPr lang="en-US" sz="2147" spc="107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Ustaw potrzeby.</a:t>
              </a:r>
            </a:p>
            <a:p>
              <a:pPr algn="l" marL="463608" indent="-231804" lvl="1">
                <a:lnSpc>
                  <a:spcPts val="3006"/>
                </a:lnSpc>
                <a:buAutoNum type="arabicPeriod" startAt="1"/>
              </a:pPr>
              <a:r>
                <a:rPr lang="en-US" sz="2147" spc="107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Znajdź miejsce na mapie</a:t>
              </a:r>
            </a:p>
            <a:p>
              <a:pPr algn="l" marL="463608" indent="-231804" lvl="1">
                <a:lnSpc>
                  <a:spcPts val="3006"/>
                </a:lnSpc>
                <a:buAutoNum type="arabicPeriod" startAt="1"/>
              </a:pPr>
              <a:r>
                <a:rPr lang="en-US" sz="2147" spc="107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Oceń po wizycie.</a:t>
              </a:r>
            </a:p>
          </p:txBody>
        </p:sp>
      </p:grp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>
                  <p14:trim st="251420.0000" end="180526.6660"/>
                </p14:media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210636" y="235405"/>
            <a:ext cx="5757765" cy="9816189"/>
          </a:xfrm>
          <a:prstGeom prst="rect">
            <a:avLst/>
          </a:prstGeom>
        </p:spPr>
      </p:pic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>
                  <p14:trim st="356900.0000" end="78046.6660"/>
                </p14:media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6572" y="2103489"/>
            <a:ext cx="5757765" cy="98161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4755" y="7285599"/>
            <a:ext cx="8019314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b="true" sz="3600" spc="107">
                <a:solidFill>
                  <a:srgbClr val="37C9EF"/>
                </a:solidFill>
                <a:latin typeface="Aileron Heavy"/>
                <a:ea typeface="Aileron Heavy"/>
                <a:cs typeface="Aileron Heavy"/>
                <a:sym typeface="Aileron Heavy"/>
              </a:rPr>
              <a:t>DLA KOGO JEST TA APLIKACJA?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2843" y="8180127"/>
            <a:ext cx="17012965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spc="13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KindSpot jest dla osób z niepełnosprawnościami, osób neuroróżnorodnych oraz ich bliskich. Użytkownicy są weryfikowani, ich prywatne informacje są niedostępne dla pozostałych. </a:t>
            </a:r>
          </a:p>
          <a:p>
            <a:pPr algn="ctr">
              <a:lnSpc>
                <a:spcPts val="3640"/>
              </a:lnSpc>
            </a:pPr>
            <a:r>
              <a:rPr lang="en-US" sz="2600" spc="13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Dzielą się wiedzą, budują sprawnie współpracującą wspólnotę a miasto zyskuje mapę realnych barier.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852943" y="-185770"/>
            <a:ext cx="9757001" cy="3381440"/>
            <a:chOff x="0" y="0"/>
            <a:chExt cx="1172650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7780" y="22860"/>
              <a:ext cx="1147250" cy="360680"/>
            </a:xfrm>
            <a:custGeom>
              <a:avLst/>
              <a:gdLst/>
              <a:ahLst/>
              <a:cxnLst/>
              <a:rect r="r" b="b" t="t" l="l"/>
              <a:pathLst>
                <a:path h="360680" w="1147250">
                  <a:moveTo>
                    <a:pt x="1147250" y="180340"/>
                  </a:moveTo>
                  <a:cubicBezTo>
                    <a:pt x="1147250" y="81280"/>
                    <a:pt x="1067240" y="0"/>
                    <a:pt x="966910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966910" y="360680"/>
                  </a:lnTo>
                  <a:cubicBezTo>
                    <a:pt x="1065970" y="360680"/>
                    <a:pt x="1147250" y="279400"/>
                    <a:pt x="1147250" y="180340"/>
                  </a:cubicBezTo>
                  <a:close/>
                </a:path>
              </a:pathLst>
            </a:custGeom>
            <a:solidFill>
              <a:srgbClr val="2C92D5">
                <a:alpha val="9490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-2269188" y="-471520"/>
            <a:ext cx="9185501" cy="3381440"/>
            <a:chOff x="0" y="0"/>
            <a:chExt cx="1103964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7780" y="22860"/>
              <a:ext cx="1078564" cy="360680"/>
            </a:xfrm>
            <a:custGeom>
              <a:avLst/>
              <a:gdLst/>
              <a:ahLst/>
              <a:cxnLst/>
              <a:rect r="r" b="b" t="t" l="l"/>
              <a:pathLst>
                <a:path h="360680" w="1078564">
                  <a:moveTo>
                    <a:pt x="1078564" y="180340"/>
                  </a:moveTo>
                  <a:cubicBezTo>
                    <a:pt x="1078564" y="81280"/>
                    <a:pt x="998554" y="0"/>
                    <a:pt x="898224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898224" y="360680"/>
                  </a:lnTo>
                  <a:cubicBezTo>
                    <a:pt x="997284" y="360680"/>
                    <a:pt x="1078564" y="279400"/>
                    <a:pt x="1078564" y="18034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</p:grpSp>
      <p:grpSp>
        <p:nvGrpSpPr>
          <p:cNvPr name="Group 8" id="8"/>
          <p:cNvGrpSpPr/>
          <p:nvPr/>
        </p:nvGrpSpPr>
        <p:grpSpPr>
          <a:xfrm rot="-5400000">
            <a:off x="3975074" y="99980"/>
            <a:ext cx="10328501" cy="3381440"/>
            <a:chOff x="0" y="0"/>
            <a:chExt cx="1241336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7780" y="22860"/>
              <a:ext cx="1215936" cy="360680"/>
            </a:xfrm>
            <a:custGeom>
              <a:avLst/>
              <a:gdLst/>
              <a:ahLst/>
              <a:cxnLst/>
              <a:rect r="r" b="b" t="t" l="l"/>
              <a:pathLst>
                <a:path h="360680" w="1215936">
                  <a:moveTo>
                    <a:pt x="1215936" y="180340"/>
                  </a:moveTo>
                  <a:cubicBezTo>
                    <a:pt x="1215936" y="81280"/>
                    <a:pt x="1135926" y="0"/>
                    <a:pt x="103559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035596" y="360680"/>
                  </a:lnTo>
                  <a:cubicBezTo>
                    <a:pt x="1134656" y="360680"/>
                    <a:pt x="1215936" y="279400"/>
                    <a:pt x="1215936" y="180340"/>
                  </a:cubicBezTo>
                  <a:close/>
                </a:path>
              </a:pathLst>
            </a:custGeom>
            <a:solidFill>
              <a:srgbClr val="37C9EF">
                <a:alpha val="8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-5400000">
            <a:off x="7097206" y="385730"/>
            <a:ext cx="10900001" cy="3381440"/>
            <a:chOff x="0" y="0"/>
            <a:chExt cx="1310022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7780" y="22860"/>
              <a:ext cx="1284622" cy="360680"/>
            </a:xfrm>
            <a:custGeom>
              <a:avLst/>
              <a:gdLst/>
              <a:ahLst/>
              <a:cxnLst/>
              <a:rect r="r" b="b" t="t" l="l"/>
              <a:pathLst>
                <a:path h="360680" w="1284622">
                  <a:moveTo>
                    <a:pt x="1284622" y="180340"/>
                  </a:moveTo>
                  <a:cubicBezTo>
                    <a:pt x="1284622" y="81280"/>
                    <a:pt x="1204612" y="0"/>
                    <a:pt x="1104282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104282" y="360680"/>
                  </a:lnTo>
                  <a:cubicBezTo>
                    <a:pt x="1203342" y="360680"/>
                    <a:pt x="1284622" y="279400"/>
                    <a:pt x="1284622" y="180340"/>
                  </a:cubicBezTo>
                  <a:close/>
                </a:path>
              </a:pathLst>
            </a:custGeom>
            <a:solidFill>
              <a:srgbClr val="3EDAD8">
                <a:alpha val="8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10254369" y="636447"/>
            <a:ext cx="11401436" cy="3381440"/>
            <a:chOff x="0" y="0"/>
            <a:chExt cx="1370287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7780" y="22860"/>
              <a:ext cx="1344887" cy="360680"/>
            </a:xfrm>
            <a:custGeom>
              <a:avLst/>
              <a:gdLst/>
              <a:ahLst/>
              <a:cxnLst/>
              <a:rect r="r" b="b" t="t" l="l"/>
              <a:pathLst>
                <a:path h="360680" w="1344887">
                  <a:moveTo>
                    <a:pt x="1344887" y="180340"/>
                  </a:moveTo>
                  <a:cubicBezTo>
                    <a:pt x="1344887" y="81280"/>
                    <a:pt x="1264877" y="0"/>
                    <a:pt x="116454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164547" y="360680"/>
                  </a:lnTo>
                  <a:cubicBezTo>
                    <a:pt x="1263607" y="360680"/>
                    <a:pt x="1344887" y="279400"/>
                    <a:pt x="1344887" y="180340"/>
                  </a:cubicBezTo>
                  <a:close/>
                </a:path>
              </a:pathLst>
            </a:custGeom>
            <a:solidFill>
              <a:srgbClr val="86EAE9">
                <a:alpha val="80000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37663" y="600095"/>
            <a:ext cx="1371799" cy="1704098"/>
          </a:xfrm>
          <a:custGeom>
            <a:avLst/>
            <a:gdLst/>
            <a:ahLst/>
            <a:cxnLst/>
            <a:rect r="r" b="b" t="t" l="l"/>
            <a:pathLst>
              <a:path h="1704098" w="1371799">
                <a:moveTo>
                  <a:pt x="0" y="0"/>
                </a:moveTo>
                <a:lnTo>
                  <a:pt x="1371799" y="0"/>
                </a:lnTo>
                <a:lnTo>
                  <a:pt x="1371799" y="1704098"/>
                </a:lnTo>
                <a:lnTo>
                  <a:pt x="0" y="1704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995589" y="623069"/>
            <a:ext cx="1490991" cy="1743849"/>
          </a:xfrm>
          <a:custGeom>
            <a:avLst/>
            <a:gdLst/>
            <a:ahLst/>
            <a:cxnLst/>
            <a:rect r="r" b="b" t="t" l="l"/>
            <a:pathLst>
              <a:path h="1743849" w="1490991">
                <a:moveTo>
                  <a:pt x="0" y="0"/>
                </a:moveTo>
                <a:lnTo>
                  <a:pt x="1490991" y="0"/>
                </a:lnTo>
                <a:lnTo>
                  <a:pt x="1490991" y="1743849"/>
                </a:lnTo>
                <a:lnTo>
                  <a:pt x="0" y="17438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03573" y="705707"/>
            <a:ext cx="1486592" cy="1598486"/>
          </a:xfrm>
          <a:custGeom>
            <a:avLst/>
            <a:gdLst/>
            <a:ahLst/>
            <a:cxnLst/>
            <a:rect r="r" b="b" t="t" l="l"/>
            <a:pathLst>
              <a:path h="1598486" w="1486592">
                <a:moveTo>
                  <a:pt x="0" y="0"/>
                </a:moveTo>
                <a:lnTo>
                  <a:pt x="1486592" y="0"/>
                </a:lnTo>
                <a:lnTo>
                  <a:pt x="1486592" y="1598486"/>
                </a:lnTo>
                <a:lnTo>
                  <a:pt x="0" y="15984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266626" y="623069"/>
            <a:ext cx="1388840" cy="1704098"/>
          </a:xfrm>
          <a:custGeom>
            <a:avLst/>
            <a:gdLst/>
            <a:ahLst/>
            <a:cxnLst/>
            <a:rect r="r" b="b" t="t" l="l"/>
            <a:pathLst>
              <a:path h="1704098" w="1388840">
                <a:moveTo>
                  <a:pt x="0" y="0"/>
                </a:moveTo>
                <a:lnTo>
                  <a:pt x="1388840" y="0"/>
                </a:lnTo>
                <a:lnTo>
                  <a:pt x="1388840" y="1704098"/>
                </a:lnTo>
                <a:lnTo>
                  <a:pt x="0" y="1704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19654" y="623069"/>
            <a:ext cx="1455103" cy="1763762"/>
          </a:xfrm>
          <a:custGeom>
            <a:avLst/>
            <a:gdLst/>
            <a:ahLst/>
            <a:cxnLst/>
            <a:rect r="r" b="b" t="t" l="l"/>
            <a:pathLst>
              <a:path h="1763762" w="1455103">
                <a:moveTo>
                  <a:pt x="0" y="0"/>
                </a:moveTo>
                <a:lnTo>
                  <a:pt x="1455104" y="0"/>
                </a:lnTo>
                <a:lnTo>
                  <a:pt x="1455104" y="1763762"/>
                </a:lnTo>
                <a:lnTo>
                  <a:pt x="0" y="17637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54755" y="2975923"/>
            <a:ext cx="2752594" cy="1989818"/>
            <a:chOff x="0" y="0"/>
            <a:chExt cx="3670125" cy="265309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3279166" cy="740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8"/>
                </a:lnSpc>
              </a:pPr>
              <a:r>
                <a:rPr lang="en-US" b="true" sz="3598" spc="35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80093"/>
              <a:ext cx="3670125" cy="1772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</a:pPr>
              <a:r>
                <a:rPr lang="en-US" sz="23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osób niepełnosprawnych ruchowo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55147" y="2975787"/>
            <a:ext cx="2752594" cy="1531125"/>
            <a:chOff x="0" y="0"/>
            <a:chExt cx="3670125" cy="204150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3670125" cy="73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8"/>
                </a:lnSpc>
              </a:pPr>
              <a:r>
                <a:rPr lang="en-US" b="true" sz="3598" spc="35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877917"/>
              <a:ext cx="3670125" cy="1163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</a:pPr>
              <a:r>
                <a:rPr lang="en-US" sz="23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osób niewidomych/</a:t>
              </a:r>
            </a:p>
            <a:p>
              <a:pPr algn="ctr">
                <a:lnSpc>
                  <a:spcPts val="3599"/>
                </a:lnSpc>
              </a:pPr>
              <a:r>
                <a:rPr lang="en-US" sz="23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słabowidzących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773441" y="2975787"/>
            <a:ext cx="2752594" cy="1760404"/>
            <a:chOff x="0" y="0"/>
            <a:chExt cx="3670125" cy="2347205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3670125" cy="73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8"/>
                </a:lnSpc>
              </a:pPr>
              <a:r>
                <a:rPr lang="en-US" b="true" sz="3598" spc="35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183622"/>
              <a:ext cx="3670125" cy="1163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</a:pPr>
              <a:r>
                <a:rPr lang="en-US" sz="23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osób niesłyszących/ słabosłyszących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89757" y="2975923"/>
            <a:ext cx="2914898" cy="2445926"/>
            <a:chOff x="0" y="0"/>
            <a:chExt cx="3886531" cy="3261235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3886531" cy="73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8"/>
                </a:lnSpc>
              </a:pPr>
              <a:r>
                <a:rPr lang="en-US" b="true" sz="3598" spc="35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878824"/>
              <a:ext cx="3886531" cy="2382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</a:pPr>
              <a:r>
                <a:rPr lang="en-US" sz="23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osób przechodzących przez kryzys psychiczny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95101" y="3090052"/>
            <a:ext cx="2918274" cy="1531873"/>
            <a:chOff x="0" y="0"/>
            <a:chExt cx="3891031" cy="2042498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9525"/>
              <a:ext cx="3891031" cy="738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8"/>
                </a:lnSpc>
              </a:pPr>
              <a:r>
                <a:rPr lang="en-US" b="true" sz="3598" spc="35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878914"/>
              <a:ext cx="3891031" cy="1163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9"/>
                </a:lnSpc>
              </a:pPr>
              <a:r>
                <a:rPr lang="en-US" sz="2399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osób neuroróżnorodnych.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382053" y="3990586"/>
            <a:ext cx="8118977" cy="534964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436790" y="1028700"/>
            <a:ext cx="8009503" cy="2675761"/>
          </a:xfrm>
          <a:prstGeom prst="rect">
            <a:avLst/>
          </a:prstGeom>
          <a:solidFill>
            <a:srgbClr val="13538A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4029325" y="4045205"/>
            <a:ext cx="671861" cy="824369"/>
          </a:xfrm>
          <a:custGeom>
            <a:avLst/>
            <a:gdLst/>
            <a:ahLst/>
            <a:cxnLst/>
            <a:rect r="r" b="b" t="t" l="l"/>
            <a:pathLst>
              <a:path h="824369" w="671861">
                <a:moveTo>
                  <a:pt x="0" y="0"/>
                </a:moveTo>
                <a:lnTo>
                  <a:pt x="671861" y="0"/>
                </a:lnTo>
                <a:lnTo>
                  <a:pt x="671861" y="824369"/>
                </a:lnTo>
                <a:lnTo>
                  <a:pt x="0" y="824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4902" y="1655698"/>
            <a:ext cx="6273279" cy="1421765"/>
            <a:chOff x="0" y="0"/>
            <a:chExt cx="8364372" cy="189568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8364372" cy="1821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85"/>
                </a:lnSpc>
              </a:pPr>
              <a:r>
                <a:rPr lang="en-US" b="true" sz="4219" spc="126">
                  <a:solidFill>
                    <a:srgbClr val="FFFFF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Wiarygodne oceny i atrakcyjne nagrody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16990"/>
              <a:ext cx="7136437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91432" y="4988193"/>
            <a:ext cx="7547648" cy="408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Skąd wiadomo, że ocena jest prawdziwa? Każdą najpierw sprawdza bot, który wysyła wątpliwe do moderacji. Ponadto - inni użytkownicy mogą potwierdzić albo podważyć konkretną np. o podjazdzie przy danym wejściu. </a:t>
            </a:r>
          </a:p>
          <a:p>
            <a:pPr algn="ctr">
              <a:lnSpc>
                <a:spcPts val="3599"/>
              </a:lnSpc>
            </a:pPr>
            <a:r>
              <a:rPr lang="en-US" sz="2399">
                <a:solidFill>
                  <a:srgbClr val="191919"/>
                </a:solidFill>
                <a:latin typeface="Aileron"/>
                <a:ea typeface="Aileron"/>
                <a:cs typeface="Aileron"/>
                <a:sym typeface="Aileron"/>
              </a:rPr>
              <a:t>Punkty dostajesz dopiero po weryfikacji i za to, czy recenzja jest pomocna, a nie czy jest pozytywna. Można je wymienić na nagrody od miasta: bilety komunikacji miejskiej czy wejściówki do muzeów.</a:t>
            </a:r>
          </a:p>
        </p:txBody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>
                  <p14:trim st="419240.0000" end="27266.6660"/>
                </p14:media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634382" y="146774"/>
            <a:ext cx="5757765" cy="98161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80485">
            <a:off x="9000023" y="2874883"/>
            <a:ext cx="2758912" cy="9880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1780485">
            <a:off x="8994556" y="5833836"/>
            <a:ext cx="2758912" cy="9880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4" id="4"/>
          <p:cNvSpPr/>
          <p:nvPr/>
        </p:nvSpPr>
        <p:spPr>
          <a:xfrm rot="-1229140">
            <a:off x="8994556" y="4354360"/>
            <a:ext cx="2758912" cy="9880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5" id="5"/>
          <p:cNvSpPr/>
          <p:nvPr/>
        </p:nvSpPr>
        <p:spPr>
          <a:xfrm rot="-1229140">
            <a:off x="8994310" y="7313312"/>
            <a:ext cx="2758912" cy="9880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7693749" y="1317809"/>
            <a:ext cx="1733476" cy="1733476"/>
          </a:xfrm>
          <a:custGeom>
            <a:avLst/>
            <a:gdLst/>
            <a:ahLst/>
            <a:cxnLst/>
            <a:rect r="r" b="b" t="t" l="l"/>
            <a:pathLst>
              <a:path h="1733476" w="1733476">
                <a:moveTo>
                  <a:pt x="0" y="0"/>
                </a:moveTo>
                <a:lnTo>
                  <a:pt x="1733476" y="0"/>
                </a:lnTo>
                <a:lnTo>
                  <a:pt x="1733476" y="1733477"/>
                </a:lnTo>
                <a:lnTo>
                  <a:pt x="0" y="1733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32225" y="2797286"/>
            <a:ext cx="1733476" cy="1733476"/>
          </a:xfrm>
          <a:custGeom>
            <a:avLst/>
            <a:gdLst/>
            <a:ahLst/>
            <a:cxnLst/>
            <a:rect r="r" b="b" t="t" l="l"/>
            <a:pathLst>
              <a:path h="1733476" w="1733476">
                <a:moveTo>
                  <a:pt x="0" y="0"/>
                </a:moveTo>
                <a:lnTo>
                  <a:pt x="1733476" y="0"/>
                </a:lnTo>
                <a:lnTo>
                  <a:pt x="1733476" y="1733476"/>
                </a:lnTo>
                <a:lnTo>
                  <a:pt x="0" y="1733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82323" y="4276762"/>
            <a:ext cx="1733476" cy="1733476"/>
          </a:xfrm>
          <a:custGeom>
            <a:avLst/>
            <a:gdLst/>
            <a:ahLst/>
            <a:cxnLst/>
            <a:rect r="r" b="b" t="t" l="l"/>
            <a:pathLst>
              <a:path h="1733476" w="1733476">
                <a:moveTo>
                  <a:pt x="0" y="0"/>
                </a:moveTo>
                <a:lnTo>
                  <a:pt x="1733477" y="0"/>
                </a:lnTo>
                <a:lnTo>
                  <a:pt x="1733477" y="1733476"/>
                </a:lnTo>
                <a:lnTo>
                  <a:pt x="0" y="1733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32225" y="5756238"/>
            <a:ext cx="1733476" cy="1733476"/>
          </a:xfrm>
          <a:custGeom>
            <a:avLst/>
            <a:gdLst/>
            <a:ahLst/>
            <a:cxnLst/>
            <a:rect r="r" b="b" t="t" l="l"/>
            <a:pathLst>
              <a:path h="1733476" w="1733476">
                <a:moveTo>
                  <a:pt x="0" y="0"/>
                </a:moveTo>
                <a:lnTo>
                  <a:pt x="1733476" y="0"/>
                </a:lnTo>
                <a:lnTo>
                  <a:pt x="1733476" y="1733476"/>
                </a:lnTo>
                <a:lnTo>
                  <a:pt x="0" y="1733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81831" y="7235714"/>
            <a:ext cx="1733476" cy="1733476"/>
          </a:xfrm>
          <a:custGeom>
            <a:avLst/>
            <a:gdLst/>
            <a:ahLst/>
            <a:cxnLst/>
            <a:rect r="r" b="b" t="t" l="l"/>
            <a:pathLst>
              <a:path h="1733476" w="1733476">
                <a:moveTo>
                  <a:pt x="0" y="0"/>
                </a:moveTo>
                <a:lnTo>
                  <a:pt x="1733476" y="0"/>
                </a:lnTo>
                <a:lnTo>
                  <a:pt x="1733476" y="1733477"/>
                </a:lnTo>
                <a:lnTo>
                  <a:pt x="0" y="17334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37469" y="1462022"/>
            <a:ext cx="1445052" cy="1445052"/>
          </a:xfrm>
          <a:custGeom>
            <a:avLst/>
            <a:gdLst/>
            <a:ahLst/>
            <a:cxnLst/>
            <a:rect r="r" b="b" t="t" l="l"/>
            <a:pathLst>
              <a:path h="1445052" w="1445052">
                <a:moveTo>
                  <a:pt x="0" y="0"/>
                </a:moveTo>
                <a:lnTo>
                  <a:pt x="1445051" y="0"/>
                </a:lnTo>
                <a:lnTo>
                  <a:pt x="1445051" y="1445051"/>
                </a:lnTo>
                <a:lnTo>
                  <a:pt x="0" y="1445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76437" y="2931834"/>
            <a:ext cx="1445052" cy="1445052"/>
          </a:xfrm>
          <a:custGeom>
            <a:avLst/>
            <a:gdLst/>
            <a:ahLst/>
            <a:cxnLst/>
            <a:rect r="r" b="b" t="t" l="l"/>
            <a:pathLst>
              <a:path h="1445052" w="1445052">
                <a:moveTo>
                  <a:pt x="0" y="0"/>
                </a:moveTo>
                <a:lnTo>
                  <a:pt x="1445052" y="0"/>
                </a:lnTo>
                <a:lnTo>
                  <a:pt x="1445052" y="1445051"/>
                </a:lnTo>
                <a:lnTo>
                  <a:pt x="0" y="14450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26536" y="4420974"/>
            <a:ext cx="1445052" cy="1445052"/>
          </a:xfrm>
          <a:custGeom>
            <a:avLst/>
            <a:gdLst/>
            <a:ahLst/>
            <a:cxnLst/>
            <a:rect r="r" b="b" t="t" l="l"/>
            <a:pathLst>
              <a:path h="1445052" w="1445052">
                <a:moveTo>
                  <a:pt x="0" y="0"/>
                </a:moveTo>
                <a:lnTo>
                  <a:pt x="1445051" y="0"/>
                </a:lnTo>
                <a:lnTo>
                  <a:pt x="1445051" y="1445052"/>
                </a:lnTo>
                <a:lnTo>
                  <a:pt x="0" y="144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76437" y="5900451"/>
            <a:ext cx="1445052" cy="1445052"/>
          </a:xfrm>
          <a:custGeom>
            <a:avLst/>
            <a:gdLst/>
            <a:ahLst/>
            <a:cxnLst/>
            <a:rect r="r" b="b" t="t" l="l"/>
            <a:pathLst>
              <a:path h="1445052" w="1445052">
                <a:moveTo>
                  <a:pt x="0" y="0"/>
                </a:moveTo>
                <a:lnTo>
                  <a:pt x="1445052" y="0"/>
                </a:lnTo>
                <a:lnTo>
                  <a:pt x="1445052" y="1445051"/>
                </a:lnTo>
                <a:lnTo>
                  <a:pt x="0" y="14450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26043" y="7379927"/>
            <a:ext cx="1445052" cy="1445052"/>
          </a:xfrm>
          <a:custGeom>
            <a:avLst/>
            <a:gdLst/>
            <a:ahLst/>
            <a:cxnLst/>
            <a:rect r="r" b="b" t="t" l="l"/>
            <a:pathLst>
              <a:path h="1445052" w="1445052">
                <a:moveTo>
                  <a:pt x="0" y="0"/>
                </a:moveTo>
                <a:lnTo>
                  <a:pt x="1445052" y="0"/>
                </a:lnTo>
                <a:lnTo>
                  <a:pt x="1445052" y="1445051"/>
                </a:lnTo>
                <a:lnTo>
                  <a:pt x="0" y="14450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55224" y="3210370"/>
            <a:ext cx="907307" cy="907307"/>
          </a:xfrm>
          <a:custGeom>
            <a:avLst/>
            <a:gdLst/>
            <a:ahLst/>
            <a:cxnLst/>
            <a:rect r="r" b="b" t="t" l="l"/>
            <a:pathLst>
              <a:path h="907307" w="907307">
                <a:moveTo>
                  <a:pt x="0" y="0"/>
                </a:moveTo>
                <a:lnTo>
                  <a:pt x="907307" y="0"/>
                </a:lnTo>
                <a:lnTo>
                  <a:pt x="907307" y="907307"/>
                </a:lnTo>
                <a:lnTo>
                  <a:pt x="0" y="9073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871286" y="292674"/>
            <a:ext cx="1046057" cy="1025136"/>
          </a:xfrm>
          <a:custGeom>
            <a:avLst/>
            <a:gdLst/>
            <a:ahLst/>
            <a:cxnLst/>
            <a:rect r="r" b="b" t="t" l="l"/>
            <a:pathLst>
              <a:path h="1025136" w="1046057">
                <a:moveTo>
                  <a:pt x="0" y="0"/>
                </a:moveTo>
                <a:lnTo>
                  <a:pt x="1046057" y="0"/>
                </a:lnTo>
                <a:lnTo>
                  <a:pt x="1046057" y="1025135"/>
                </a:lnTo>
                <a:lnTo>
                  <a:pt x="0" y="10251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307329" y="6988749"/>
            <a:ext cx="1355202" cy="1334874"/>
          </a:xfrm>
          <a:custGeom>
            <a:avLst/>
            <a:gdLst/>
            <a:ahLst/>
            <a:cxnLst/>
            <a:rect r="r" b="b" t="t" l="l"/>
            <a:pathLst>
              <a:path h="1334874" w="1355202">
                <a:moveTo>
                  <a:pt x="0" y="0"/>
                </a:moveTo>
                <a:lnTo>
                  <a:pt x="1355202" y="0"/>
                </a:lnTo>
                <a:lnTo>
                  <a:pt x="1355202" y="1334874"/>
                </a:lnTo>
                <a:lnTo>
                  <a:pt x="0" y="13348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455509" y="5866026"/>
            <a:ext cx="1382553" cy="1195908"/>
          </a:xfrm>
          <a:custGeom>
            <a:avLst/>
            <a:gdLst/>
            <a:ahLst/>
            <a:cxnLst/>
            <a:rect r="r" b="b" t="t" l="l"/>
            <a:pathLst>
              <a:path h="1195908" w="1382553">
                <a:moveTo>
                  <a:pt x="0" y="0"/>
                </a:moveTo>
                <a:lnTo>
                  <a:pt x="1382552" y="0"/>
                </a:lnTo>
                <a:lnTo>
                  <a:pt x="1382552" y="1195908"/>
                </a:lnTo>
                <a:lnTo>
                  <a:pt x="0" y="119590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17818" y="1818775"/>
            <a:ext cx="1084531" cy="1024882"/>
          </a:xfrm>
          <a:custGeom>
            <a:avLst/>
            <a:gdLst/>
            <a:ahLst/>
            <a:cxnLst/>
            <a:rect r="r" b="b" t="t" l="l"/>
            <a:pathLst>
              <a:path h="1024882" w="1084531">
                <a:moveTo>
                  <a:pt x="0" y="0"/>
                </a:moveTo>
                <a:lnTo>
                  <a:pt x="1084531" y="0"/>
                </a:lnTo>
                <a:lnTo>
                  <a:pt x="1084531" y="1024882"/>
                </a:lnTo>
                <a:lnTo>
                  <a:pt x="0" y="102488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446701" y="3122337"/>
            <a:ext cx="3812599" cy="210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Dostępna jest lista zamiast mapy, tekst do 200%, tryb ciemny i wysoki kontrast, prosty język.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45849" y="4097376"/>
            <a:ext cx="3812599" cy="243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sz="25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Zbudowaliśmy aplikację demo we Flutterze z mapą, filtrami i ankietą, demonstracyjny backen, 46 testów i dokumentację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21388" y="8364647"/>
            <a:ext cx="4869834" cy="144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sz="25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Trzeba zareklamować aplikację na istniejących już grupach i forach wsparcia.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94301" y="7169504"/>
            <a:ext cx="3812599" cy="156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Konieczne są testy z użytkownikami i pilotaż w Krakowie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88016" y="1367883"/>
            <a:ext cx="3812599" cy="144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9"/>
              </a:lnSpc>
            </a:pPr>
            <a:r>
              <a:rPr lang="en-US" sz="25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Aplikacja ma być dla wszystkich i spełniać wymagania WCAG 2.2 AA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23395" y="1818775"/>
            <a:ext cx="1050349" cy="7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b="true" sz="4800" spc="48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73789" y="3298251"/>
            <a:ext cx="1050349" cy="7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b="true" sz="4800" spc="48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23887" y="4777727"/>
            <a:ext cx="1050349" cy="7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b="true" sz="4800" spc="48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73789" y="6257204"/>
            <a:ext cx="1050349" cy="7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b="true" sz="4800" spc="48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23395" y="7736680"/>
            <a:ext cx="1050349" cy="7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b="true" sz="4800" spc="48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5</a:t>
            </a:r>
          </a:p>
        </p:txBody>
      </p:sp>
      <p:grpSp>
        <p:nvGrpSpPr>
          <p:cNvPr name="Group 31" id="31"/>
          <p:cNvGrpSpPr/>
          <p:nvPr/>
        </p:nvGrpSpPr>
        <p:grpSpPr>
          <a:xfrm rot="-5400000">
            <a:off x="-2876516" y="4506225"/>
            <a:ext cx="9197272" cy="1417320"/>
            <a:chOff x="0" y="0"/>
            <a:chExt cx="12263029" cy="1889760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38100"/>
              <a:ext cx="12263029" cy="76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0"/>
                </a:lnSpc>
              </a:pPr>
              <a:r>
                <a:rPr lang="en-US" b="true" sz="3600" spc="107">
                  <a:solidFill>
                    <a:srgbClr val="37C9EF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DOSTĘPNOŚĆ OD PIERWSZEGO DNIA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21789" y="1311063"/>
              <a:ext cx="10991306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spc="13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oraz co już działa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578760" y="1028700"/>
            <a:ext cx="190500" cy="9258300"/>
          </a:xfrm>
          <a:prstGeom prst="rect">
            <a:avLst/>
          </a:prstGeom>
          <a:solidFill>
            <a:srgbClr val="3EDAD8"/>
          </a:solidFill>
        </p:spPr>
      </p:sp>
      <p:sp>
        <p:nvSpPr>
          <p:cNvPr name="AutoShape 3" id="3"/>
          <p:cNvSpPr/>
          <p:nvPr/>
        </p:nvSpPr>
        <p:spPr>
          <a:xfrm rot="0">
            <a:off x="7524739" y="0"/>
            <a:ext cx="190500" cy="9258300"/>
          </a:xfrm>
          <a:prstGeom prst="rect">
            <a:avLst/>
          </a:prstGeom>
          <a:solidFill>
            <a:srgbClr val="3EDAD8"/>
          </a:solidFill>
        </p:spPr>
      </p:sp>
      <p:sp>
        <p:nvSpPr>
          <p:cNvPr name="AutoShape 4" id="4"/>
          <p:cNvSpPr/>
          <p:nvPr/>
        </p:nvSpPr>
        <p:spPr>
          <a:xfrm rot="0">
            <a:off x="18097500" y="1028700"/>
            <a:ext cx="190500" cy="9258300"/>
          </a:xfrm>
          <a:prstGeom prst="rect">
            <a:avLst/>
          </a:prstGeom>
          <a:solidFill>
            <a:srgbClr val="3EDAD8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8425007" y="3352030"/>
            <a:ext cx="7985018" cy="1991714"/>
            <a:chOff x="0" y="0"/>
            <a:chExt cx="10646691" cy="265561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14324"/>
              <a:ext cx="7539654" cy="2040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032"/>
                </a:lnSpc>
              </a:pPr>
              <a:r>
                <a:rPr lang="en-US" sz="11032" spc="107">
                  <a:solidFill>
                    <a:srgbClr val="F6F6F6"/>
                  </a:solidFill>
                  <a:latin typeface="Intro Rust"/>
                  <a:ea typeface="Intro Rust"/>
                  <a:cs typeface="Intro Rust"/>
                  <a:sym typeface="Intro Rust"/>
                </a:rPr>
                <a:t>K</a:t>
              </a:r>
              <a:r>
                <a:rPr lang="en-US" sz="11032" spc="107">
                  <a:solidFill>
                    <a:srgbClr val="F6F6F6"/>
                  </a:solidFill>
                  <a:latin typeface="Intro Rust"/>
                  <a:ea typeface="Intro Rust"/>
                  <a:cs typeface="Intro Rust"/>
                  <a:sym typeface="Intro Rust"/>
                </a:rPr>
                <a:t>INDSP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7439651" y="0"/>
              <a:ext cx="2035974" cy="2655618"/>
            </a:xfrm>
            <a:custGeom>
              <a:avLst/>
              <a:gdLst/>
              <a:ahLst/>
              <a:cxnLst/>
              <a:rect r="r" b="b" t="t" l="l"/>
              <a:pathLst>
                <a:path h="2655618" w="2035974">
                  <a:moveTo>
                    <a:pt x="0" y="0"/>
                  </a:moveTo>
                  <a:lnTo>
                    <a:pt x="2035974" y="0"/>
                  </a:lnTo>
                  <a:lnTo>
                    <a:pt x="2035974" y="2655618"/>
                  </a:lnTo>
                  <a:lnTo>
                    <a:pt x="0" y="2655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9415031" y="414324"/>
              <a:ext cx="1231660" cy="2040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032"/>
                </a:lnSpc>
              </a:pPr>
              <a:r>
                <a:rPr lang="en-US" sz="11032" spc="107">
                  <a:solidFill>
                    <a:srgbClr val="F6F6F6"/>
                  </a:solidFill>
                  <a:latin typeface="Intro Rust"/>
                  <a:ea typeface="Intro Rust"/>
                  <a:cs typeface="Intro Rust"/>
                  <a:sym typeface="Intro Rust"/>
                </a:rPr>
                <a:t>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5605" y="5639570"/>
            <a:ext cx="6543823" cy="1295400"/>
            <a:chOff x="0" y="0"/>
            <a:chExt cx="8725097" cy="172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25097" cy="1727200"/>
            </a:xfrm>
            <a:custGeom>
              <a:avLst/>
              <a:gdLst/>
              <a:ahLst/>
              <a:cxnLst/>
              <a:rect r="r" b="b" t="t" l="l"/>
              <a:pathLst>
                <a:path h="1727200" w="8725097">
                  <a:moveTo>
                    <a:pt x="0" y="0"/>
                  </a:moveTo>
                  <a:lnTo>
                    <a:pt x="8725097" y="0"/>
                  </a:lnTo>
                  <a:lnTo>
                    <a:pt x="8725097" y="1727200"/>
                  </a:lnTo>
                  <a:lnTo>
                    <a:pt x="0" y="172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92" t="0" r="-23529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94441" y="632982"/>
              <a:ext cx="6336214" cy="423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1"/>
                </a:lnSpc>
              </a:pPr>
              <a:r>
                <a:rPr lang="en-US" sz="1986" spc="297">
                  <a:solidFill>
                    <a:srgbClr val="2F3131"/>
                  </a:solidFill>
                  <a:latin typeface="Aileron"/>
                  <a:ea typeface="Aileron"/>
                  <a:cs typeface="Aileron"/>
                  <a:sym typeface="Aileron"/>
                </a:rPr>
                <a:t>WIELE POTRZEB. JEDNA MAPA.</a:t>
              </a:r>
            </a:p>
          </p:txBody>
        </p:sp>
      </p:grp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>
                  <p14:trim st="428540.0000" end="16446.6660"/>
                </p14:media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31210" y="0"/>
            <a:ext cx="6033923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DAHW83SAge0</dc:identifier>
  <dcterms:modified xsi:type="dcterms:W3CDTF">2011-08-01T06:04:30Z</dcterms:modified>
  <cp:revision>1</cp:revision>
  <dc:title>KindSpot</dc:title>
</cp:coreProperties>
</file>